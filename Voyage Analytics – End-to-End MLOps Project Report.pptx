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55" autoAdjust="0"/>
    <p:restoredTop sz="94660"/>
  </p:normalViewPr>
  <p:slideViewPr>
    <p:cSldViewPr snapToGrid="0">
      <p:cViewPr varScale="1">
        <p:scale>
          <a:sx n="71" d="100"/>
          <a:sy n="71" d="100"/>
        </p:scale>
        <p:origin x="70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14664-45B3-EAD9-A4AC-8EC9F8F40A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A81C1EC-A553-CC4D-59DD-3E31F615A7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0061A0A-7356-69BE-5600-8B52BD5375FD}"/>
              </a:ext>
            </a:extLst>
          </p:cNvPr>
          <p:cNvSpPr>
            <a:spLocks noGrp="1"/>
          </p:cNvSpPr>
          <p:nvPr>
            <p:ph type="dt" sz="half" idx="10"/>
          </p:nvPr>
        </p:nvSpPr>
        <p:spPr/>
        <p:txBody>
          <a:bodyPr/>
          <a:lstStyle/>
          <a:p>
            <a:fld id="{2CB0F5BE-C630-496F-AD7C-2D7DAD4A8D61}" type="datetimeFigureOut">
              <a:rPr lang="en-IN" smtClean="0"/>
              <a:t>21-01-2026</a:t>
            </a:fld>
            <a:endParaRPr lang="en-IN"/>
          </a:p>
        </p:txBody>
      </p:sp>
      <p:sp>
        <p:nvSpPr>
          <p:cNvPr id="5" name="Footer Placeholder 4">
            <a:extLst>
              <a:ext uri="{FF2B5EF4-FFF2-40B4-BE49-F238E27FC236}">
                <a16:creationId xmlns:a16="http://schemas.microsoft.com/office/drawing/2014/main" id="{730A54BD-B7DA-2852-B8CE-D884F2A9799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4CB5467-4DB5-5605-A3AF-F9EC50364A7F}"/>
              </a:ext>
            </a:extLst>
          </p:cNvPr>
          <p:cNvSpPr>
            <a:spLocks noGrp="1"/>
          </p:cNvSpPr>
          <p:nvPr>
            <p:ph type="sldNum" sz="quarter" idx="12"/>
          </p:nvPr>
        </p:nvSpPr>
        <p:spPr/>
        <p:txBody>
          <a:bodyPr/>
          <a:lstStyle/>
          <a:p>
            <a:fld id="{0B86BCC8-2A6A-4ADA-AD5C-25FA63DDC43D}" type="slidenum">
              <a:rPr lang="en-IN" smtClean="0"/>
              <a:t>‹#›</a:t>
            </a:fld>
            <a:endParaRPr lang="en-IN"/>
          </a:p>
        </p:txBody>
      </p:sp>
    </p:spTree>
    <p:extLst>
      <p:ext uri="{BB962C8B-B14F-4D97-AF65-F5344CB8AC3E}">
        <p14:creationId xmlns:p14="http://schemas.microsoft.com/office/powerpoint/2010/main" val="3970799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D2A2F-6278-9883-7160-613888CF63A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880A8E7-A5D9-26B5-FF9A-D7466C58D8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F0D8D6-833D-591E-6D57-AB85557C23D6}"/>
              </a:ext>
            </a:extLst>
          </p:cNvPr>
          <p:cNvSpPr>
            <a:spLocks noGrp="1"/>
          </p:cNvSpPr>
          <p:nvPr>
            <p:ph type="dt" sz="half" idx="10"/>
          </p:nvPr>
        </p:nvSpPr>
        <p:spPr/>
        <p:txBody>
          <a:bodyPr/>
          <a:lstStyle/>
          <a:p>
            <a:fld id="{2CB0F5BE-C630-496F-AD7C-2D7DAD4A8D61}" type="datetimeFigureOut">
              <a:rPr lang="en-IN" smtClean="0"/>
              <a:t>21-01-2026</a:t>
            </a:fld>
            <a:endParaRPr lang="en-IN"/>
          </a:p>
        </p:txBody>
      </p:sp>
      <p:sp>
        <p:nvSpPr>
          <p:cNvPr id="5" name="Footer Placeholder 4">
            <a:extLst>
              <a:ext uri="{FF2B5EF4-FFF2-40B4-BE49-F238E27FC236}">
                <a16:creationId xmlns:a16="http://schemas.microsoft.com/office/drawing/2014/main" id="{5B0260BE-2D0A-B6C1-0EBF-74211599997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D72032A-FC95-0F2D-97ED-3D2C523351EF}"/>
              </a:ext>
            </a:extLst>
          </p:cNvPr>
          <p:cNvSpPr>
            <a:spLocks noGrp="1"/>
          </p:cNvSpPr>
          <p:nvPr>
            <p:ph type="sldNum" sz="quarter" idx="12"/>
          </p:nvPr>
        </p:nvSpPr>
        <p:spPr/>
        <p:txBody>
          <a:bodyPr/>
          <a:lstStyle/>
          <a:p>
            <a:fld id="{0B86BCC8-2A6A-4ADA-AD5C-25FA63DDC43D}" type="slidenum">
              <a:rPr lang="en-IN" smtClean="0"/>
              <a:t>‹#›</a:t>
            </a:fld>
            <a:endParaRPr lang="en-IN"/>
          </a:p>
        </p:txBody>
      </p:sp>
    </p:spTree>
    <p:extLst>
      <p:ext uri="{BB962C8B-B14F-4D97-AF65-F5344CB8AC3E}">
        <p14:creationId xmlns:p14="http://schemas.microsoft.com/office/powerpoint/2010/main" val="36387326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E3D45-39AE-8C6C-787F-7FD3D8EF2BC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1FD8A8D-403C-E231-C3C8-9712FEA99F7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93B1C2-1608-AAB1-5464-3A50601406D1}"/>
              </a:ext>
            </a:extLst>
          </p:cNvPr>
          <p:cNvSpPr>
            <a:spLocks noGrp="1"/>
          </p:cNvSpPr>
          <p:nvPr>
            <p:ph type="dt" sz="half" idx="10"/>
          </p:nvPr>
        </p:nvSpPr>
        <p:spPr/>
        <p:txBody>
          <a:bodyPr/>
          <a:lstStyle/>
          <a:p>
            <a:fld id="{2CB0F5BE-C630-496F-AD7C-2D7DAD4A8D61}" type="datetimeFigureOut">
              <a:rPr lang="en-IN" smtClean="0"/>
              <a:t>21-01-2026</a:t>
            </a:fld>
            <a:endParaRPr lang="en-IN"/>
          </a:p>
        </p:txBody>
      </p:sp>
      <p:sp>
        <p:nvSpPr>
          <p:cNvPr id="5" name="Footer Placeholder 4">
            <a:extLst>
              <a:ext uri="{FF2B5EF4-FFF2-40B4-BE49-F238E27FC236}">
                <a16:creationId xmlns:a16="http://schemas.microsoft.com/office/drawing/2014/main" id="{A323B10D-B986-A449-488C-34659EC851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5B5D5DC-170C-1C23-B666-065BDBB153DB}"/>
              </a:ext>
            </a:extLst>
          </p:cNvPr>
          <p:cNvSpPr>
            <a:spLocks noGrp="1"/>
          </p:cNvSpPr>
          <p:nvPr>
            <p:ph type="sldNum" sz="quarter" idx="12"/>
          </p:nvPr>
        </p:nvSpPr>
        <p:spPr/>
        <p:txBody>
          <a:bodyPr/>
          <a:lstStyle/>
          <a:p>
            <a:fld id="{0B86BCC8-2A6A-4ADA-AD5C-25FA63DDC43D}" type="slidenum">
              <a:rPr lang="en-IN" smtClean="0"/>
              <a:t>‹#›</a:t>
            </a:fld>
            <a:endParaRPr lang="en-IN"/>
          </a:p>
        </p:txBody>
      </p:sp>
    </p:spTree>
    <p:extLst>
      <p:ext uri="{BB962C8B-B14F-4D97-AF65-F5344CB8AC3E}">
        <p14:creationId xmlns:p14="http://schemas.microsoft.com/office/powerpoint/2010/main" val="15449528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D1C71-9567-6526-6ABF-51BB380EF11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A663C67-4533-16CB-43A9-84C05D6D5DD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19D40D9-2464-0926-D5D7-64D7378107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6172733-0877-5A86-B0A7-EADBB4354D43}"/>
              </a:ext>
            </a:extLst>
          </p:cNvPr>
          <p:cNvSpPr>
            <a:spLocks noGrp="1"/>
          </p:cNvSpPr>
          <p:nvPr>
            <p:ph type="dt" sz="half" idx="10"/>
          </p:nvPr>
        </p:nvSpPr>
        <p:spPr/>
        <p:txBody>
          <a:bodyPr/>
          <a:lstStyle/>
          <a:p>
            <a:fld id="{2CB0F5BE-C630-496F-AD7C-2D7DAD4A8D61}" type="datetimeFigureOut">
              <a:rPr lang="en-IN" smtClean="0"/>
              <a:t>21-01-2026</a:t>
            </a:fld>
            <a:endParaRPr lang="en-IN"/>
          </a:p>
        </p:txBody>
      </p:sp>
      <p:sp>
        <p:nvSpPr>
          <p:cNvPr id="6" name="Footer Placeholder 5">
            <a:extLst>
              <a:ext uri="{FF2B5EF4-FFF2-40B4-BE49-F238E27FC236}">
                <a16:creationId xmlns:a16="http://schemas.microsoft.com/office/drawing/2014/main" id="{40A8DE95-A08C-3B8D-6131-ECBF45A43E4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454FAAD-F547-C617-2488-5C3AAECD2253}"/>
              </a:ext>
            </a:extLst>
          </p:cNvPr>
          <p:cNvSpPr>
            <a:spLocks noGrp="1"/>
          </p:cNvSpPr>
          <p:nvPr>
            <p:ph type="sldNum" sz="quarter" idx="12"/>
          </p:nvPr>
        </p:nvSpPr>
        <p:spPr/>
        <p:txBody>
          <a:bodyPr/>
          <a:lstStyle/>
          <a:p>
            <a:fld id="{0B86BCC8-2A6A-4ADA-AD5C-25FA63DDC43D}" type="slidenum">
              <a:rPr lang="en-IN" smtClean="0"/>
              <a:t>‹#›</a:t>
            </a:fld>
            <a:endParaRPr lang="en-IN"/>
          </a:p>
        </p:txBody>
      </p:sp>
    </p:spTree>
    <p:extLst>
      <p:ext uri="{BB962C8B-B14F-4D97-AF65-F5344CB8AC3E}">
        <p14:creationId xmlns:p14="http://schemas.microsoft.com/office/powerpoint/2010/main" val="3263669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7E148-B6DF-6928-3842-3734587F220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3325441-D439-8745-7532-6729DFFA174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FD8A94D-4F6F-76CA-6DB6-55FFFAF1212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89ABA3E-C15D-91D3-2CD6-1FA0D17B57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21A9BD7-11DA-543C-CC3B-4C6E64674E4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05C3915-EF74-3B8D-4BF6-73F36AAB0050}"/>
              </a:ext>
            </a:extLst>
          </p:cNvPr>
          <p:cNvSpPr>
            <a:spLocks noGrp="1"/>
          </p:cNvSpPr>
          <p:nvPr>
            <p:ph type="dt" sz="half" idx="10"/>
          </p:nvPr>
        </p:nvSpPr>
        <p:spPr/>
        <p:txBody>
          <a:bodyPr/>
          <a:lstStyle/>
          <a:p>
            <a:fld id="{2CB0F5BE-C630-496F-AD7C-2D7DAD4A8D61}" type="datetimeFigureOut">
              <a:rPr lang="en-IN" smtClean="0"/>
              <a:t>21-01-2026</a:t>
            </a:fld>
            <a:endParaRPr lang="en-IN"/>
          </a:p>
        </p:txBody>
      </p:sp>
      <p:sp>
        <p:nvSpPr>
          <p:cNvPr id="8" name="Footer Placeholder 7">
            <a:extLst>
              <a:ext uri="{FF2B5EF4-FFF2-40B4-BE49-F238E27FC236}">
                <a16:creationId xmlns:a16="http://schemas.microsoft.com/office/drawing/2014/main" id="{D5C2D009-2B42-6596-06D6-C2D8EBB7804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93D0407-7984-240E-8364-4C07688C29D7}"/>
              </a:ext>
            </a:extLst>
          </p:cNvPr>
          <p:cNvSpPr>
            <a:spLocks noGrp="1"/>
          </p:cNvSpPr>
          <p:nvPr>
            <p:ph type="sldNum" sz="quarter" idx="12"/>
          </p:nvPr>
        </p:nvSpPr>
        <p:spPr/>
        <p:txBody>
          <a:bodyPr/>
          <a:lstStyle/>
          <a:p>
            <a:fld id="{0B86BCC8-2A6A-4ADA-AD5C-25FA63DDC43D}" type="slidenum">
              <a:rPr lang="en-IN" smtClean="0"/>
              <a:t>‹#›</a:t>
            </a:fld>
            <a:endParaRPr lang="en-IN"/>
          </a:p>
        </p:txBody>
      </p:sp>
    </p:spTree>
    <p:extLst>
      <p:ext uri="{BB962C8B-B14F-4D97-AF65-F5344CB8AC3E}">
        <p14:creationId xmlns:p14="http://schemas.microsoft.com/office/powerpoint/2010/main" val="35578529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341B7-25BD-C0C0-3A43-8F6AC10C4D5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8E833DE-EFC2-6FC1-CFE8-9F59AC7637F8}"/>
              </a:ext>
            </a:extLst>
          </p:cNvPr>
          <p:cNvSpPr>
            <a:spLocks noGrp="1"/>
          </p:cNvSpPr>
          <p:nvPr>
            <p:ph type="dt" sz="half" idx="10"/>
          </p:nvPr>
        </p:nvSpPr>
        <p:spPr/>
        <p:txBody>
          <a:bodyPr/>
          <a:lstStyle/>
          <a:p>
            <a:fld id="{2CB0F5BE-C630-496F-AD7C-2D7DAD4A8D61}" type="datetimeFigureOut">
              <a:rPr lang="en-IN" smtClean="0"/>
              <a:t>21-01-2026</a:t>
            </a:fld>
            <a:endParaRPr lang="en-IN"/>
          </a:p>
        </p:txBody>
      </p:sp>
      <p:sp>
        <p:nvSpPr>
          <p:cNvPr id="4" name="Footer Placeholder 3">
            <a:extLst>
              <a:ext uri="{FF2B5EF4-FFF2-40B4-BE49-F238E27FC236}">
                <a16:creationId xmlns:a16="http://schemas.microsoft.com/office/drawing/2014/main" id="{BDC27D93-13E6-E761-ADA0-E685C9C5B8C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3E5A263-DB80-4B17-98C7-55D4284856EF}"/>
              </a:ext>
            </a:extLst>
          </p:cNvPr>
          <p:cNvSpPr>
            <a:spLocks noGrp="1"/>
          </p:cNvSpPr>
          <p:nvPr>
            <p:ph type="sldNum" sz="quarter" idx="12"/>
          </p:nvPr>
        </p:nvSpPr>
        <p:spPr/>
        <p:txBody>
          <a:bodyPr/>
          <a:lstStyle/>
          <a:p>
            <a:fld id="{0B86BCC8-2A6A-4ADA-AD5C-25FA63DDC43D}" type="slidenum">
              <a:rPr lang="en-IN" smtClean="0"/>
              <a:t>‹#›</a:t>
            </a:fld>
            <a:endParaRPr lang="en-IN"/>
          </a:p>
        </p:txBody>
      </p:sp>
    </p:spTree>
    <p:extLst>
      <p:ext uri="{BB962C8B-B14F-4D97-AF65-F5344CB8AC3E}">
        <p14:creationId xmlns:p14="http://schemas.microsoft.com/office/powerpoint/2010/main" val="17425516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D974A57-9135-6EFC-814B-B69A7A74D55C}"/>
              </a:ext>
            </a:extLst>
          </p:cNvPr>
          <p:cNvSpPr>
            <a:spLocks noGrp="1"/>
          </p:cNvSpPr>
          <p:nvPr>
            <p:ph type="dt" sz="half" idx="10"/>
          </p:nvPr>
        </p:nvSpPr>
        <p:spPr/>
        <p:txBody>
          <a:bodyPr/>
          <a:lstStyle/>
          <a:p>
            <a:fld id="{2CB0F5BE-C630-496F-AD7C-2D7DAD4A8D61}" type="datetimeFigureOut">
              <a:rPr lang="en-IN" smtClean="0"/>
              <a:t>21-01-2026</a:t>
            </a:fld>
            <a:endParaRPr lang="en-IN"/>
          </a:p>
        </p:txBody>
      </p:sp>
      <p:sp>
        <p:nvSpPr>
          <p:cNvPr id="3" name="Footer Placeholder 2">
            <a:extLst>
              <a:ext uri="{FF2B5EF4-FFF2-40B4-BE49-F238E27FC236}">
                <a16:creationId xmlns:a16="http://schemas.microsoft.com/office/drawing/2014/main" id="{64F33191-BFBD-A2D0-6827-80ACD771A51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98D1F5B-7FAC-97AF-556D-6F752071D5D1}"/>
              </a:ext>
            </a:extLst>
          </p:cNvPr>
          <p:cNvSpPr>
            <a:spLocks noGrp="1"/>
          </p:cNvSpPr>
          <p:nvPr>
            <p:ph type="sldNum" sz="quarter" idx="12"/>
          </p:nvPr>
        </p:nvSpPr>
        <p:spPr/>
        <p:txBody>
          <a:bodyPr/>
          <a:lstStyle/>
          <a:p>
            <a:fld id="{0B86BCC8-2A6A-4ADA-AD5C-25FA63DDC43D}" type="slidenum">
              <a:rPr lang="en-IN" smtClean="0"/>
              <a:t>‹#›</a:t>
            </a:fld>
            <a:endParaRPr lang="en-IN"/>
          </a:p>
        </p:txBody>
      </p:sp>
    </p:spTree>
    <p:extLst>
      <p:ext uri="{BB962C8B-B14F-4D97-AF65-F5344CB8AC3E}">
        <p14:creationId xmlns:p14="http://schemas.microsoft.com/office/powerpoint/2010/main" val="4052329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3A8AF-D615-16C4-9EE9-29708A6AB3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72B1CEA-3546-0301-2453-ABE9E062662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7A96AC2-F554-B40C-4D9E-5527874A97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F691EB-3F99-61A7-66B6-59CE78E9E5B6}"/>
              </a:ext>
            </a:extLst>
          </p:cNvPr>
          <p:cNvSpPr>
            <a:spLocks noGrp="1"/>
          </p:cNvSpPr>
          <p:nvPr>
            <p:ph type="dt" sz="half" idx="10"/>
          </p:nvPr>
        </p:nvSpPr>
        <p:spPr/>
        <p:txBody>
          <a:bodyPr/>
          <a:lstStyle/>
          <a:p>
            <a:fld id="{2CB0F5BE-C630-496F-AD7C-2D7DAD4A8D61}" type="datetimeFigureOut">
              <a:rPr lang="en-IN" smtClean="0"/>
              <a:t>21-01-2026</a:t>
            </a:fld>
            <a:endParaRPr lang="en-IN"/>
          </a:p>
        </p:txBody>
      </p:sp>
      <p:sp>
        <p:nvSpPr>
          <p:cNvPr id="6" name="Footer Placeholder 5">
            <a:extLst>
              <a:ext uri="{FF2B5EF4-FFF2-40B4-BE49-F238E27FC236}">
                <a16:creationId xmlns:a16="http://schemas.microsoft.com/office/drawing/2014/main" id="{BDE556A3-7DE9-290D-AD8C-1942C4636D8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E35C948-2C75-DE22-99F2-7E57811E47A8}"/>
              </a:ext>
            </a:extLst>
          </p:cNvPr>
          <p:cNvSpPr>
            <a:spLocks noGrp="1"/>
          </p:cNvSpPr>
          <p:nvPr>
            <p:ph type="sldNum" sz="quarter" idx="12"/>
          </p:nvPr>
        </p:nvSpPr>
        <p:spPr/>
        <p:txBody>
          <a:bodyPr/>
          <a:lstStyle/>
          <a:p>
            <a:fld id="{0B86BCC8-2A6A-4ADA-AD5C-25FA63DDC43D}" type="slidenum">
              <a:rPr lang="en-IN" smtClean="0"/>
              <a:t>‹#›</a:t>
            </a:fld>
            <a:endParaRPr lang="en-IN"/>
          </a:p>
        </p:txBody>
      </p:sp>
    </p:spTree>
    <p:extLst>
      <p:ext uri="{BB962C8B-B14F-4D97-AF65-F5344CB8AC3E}">
        <p14:creationId xmlns:p14="http://schemas.microsoft.com/office/powerpoint/2010/main" val="42267654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9E8B6-7273-21B7-1B69-81553DEDBC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080E680-2E88-AC27-AE1A-BA2D906814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82F5BB7-DC2D-1AF2-5F90-2DDF1A7C84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E25E1C-7EF1-5D33-0399-127E31405336}"/>
              </a:ext>
            </a:extLst>
          </p:cNvPr>
          <p:cNvSpPr>
            <a:spLocks noGrp="1"/>
          </p:cNvSpPr>
          <p:nvPr>
            <p:ph type="dt" sz="half" idx="10"/>
          </p:nvPr>
        </p:nvSpPr>
        <p:spPr/>
        <p:txBody>
          <a:bodyPr/>
          <a:lstStyle/>
          <a:p>
            <a:fld id="{2CB0F5BE-C630-496F-AD7C-2D7DAD4A8D61}" type="datetimeFigureOut">
              <a:rPr lang="en-IN" smtClean="0"/>
              <a:t>21-01-2026</a:t>
            </a:fld>
            <a:endParaRPr lang="en-IN"/>
          </a:p>
        </p:txBody>
      </p:sp>
      <p:sp>
        <p:nvSpPr>
          <p:cNvPr id="6" name="Footer Placeholder 5">
            <a:extLst>
              <a:ext uri="{FF2B5EF4-FFF2-40B4-BE49-F238E27FC236}">
                <a16:creationId xmlns:a16="http://schemas.microsoft.com/office/drawing/2014/main" id="{C3514D44-DBEE-3292-7827-E61950AC3A7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2BD806C-F822-4231-7385-671E2FB9C493}"/>
              </a:ext>
            </a:extLst>
          </p:cNvPr>
          <p:cNvSpPr>
            <a:spLocks noGrp="1"/>
          </p:cNvSpPr>
          <p:nvPr>
            <p:ph type="sldNum" sz="quarter" idx="12"/>
          </p:nvPr>
        </p:nvSpPr>
        <p:spPr/>
        <p:txBody>
          <a:bodyPr/>
          <a:lstStyle/>
          <a:p>
            <a:fld id="{0B86BCC8-2A6A-4ADA-AD5C-25FA63DDC43D}" type="slidenum">
              <a:rPr lang="en-IN" smtClean="0"/>
              <a:t>‹#›</a:t>
            </a:fld>
            <a:endParaRPr lang="en-IN"/>
          </a:p>
        </p:txBody>
      </p:sp>
    </p:spTree>
    <p:extLst>
      <p:ext uri="{BB962C8B-B14F-4D97-AF65-F5344CB8AC3E}">
        <p14:creationId xmlns:p14="http://schemas.microsoft.com/office/powerpoint/2010/main" val="30828675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E8A5A-B3F9-27A7-8A39-AF884FF12C5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04621DB-9FF9-E237-F3A6-2AD62E5C3EC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9C3C220-88A7-784D-DD76-8DA25FEFA410}"/>
              </a:ext>
            </a:extLst>
          </p:cNvPr>
          <p:cNvSpPr>
            <a:spLocks noGrp="1"/>
          </p:cNvSpPr>
          <p:nvPr>
            <p:ph type="dt" sz="half" idx="10"/>
          </p:nvPr>
        </p:nvSpPr>
        <p:spPr/>
        <p:txBody>
          <a:bodyPr/>
          <a:lstStyle/>
          <a:p>
            <a:fld id="{2CB0F5BE-C630-496F-AD7C-2D7DAD4A8D61}" type="datetimeFigureOut">
              <a:rPr lang="en-IN" smtClean="0"/>
              <a:t>21-01-2026</a:t>
            </a:fld>
            <a:endParaRPr lang="en-IN"/>
          </a:p>
        </p:txBody>
      </p:sp>
      <p:sp>
        <p:nvSpPr>
          <p:cNvPr id="5" name="Footer Placeholder 4">
            <a:extLst>
              <a:ext uri="{FF2B5EF4-FFF2-40B4-BE49-F238E27FC236}">
                <a16:creationId xmlns:a16="http://schemas.microsoft.com/office/drawing/2014/main" id="{22453681-99AB-B133-FABB-DC02C57AE5F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5351F7-D522-C0D8-881F-015B3E87E452}"/>
              </a:ext>
            </a:extLst>
          </p:cNvPr>
          <p:cNvSpPr>
            <a:spLocks noGrp="1"/>
          </p:cNvSpPr>
          <p:nvPr>
            <p:ph type="sldNum" sz="quarter" idx="12"/>
          </p:nvPr>
        </p:nvSpPr>
        <p:spPr/>
        <p:txBody>
          <a:bodyPr/>
          <a:lstStyle/>
          <a:p>
            <a:fld id="{0B86BCC8-2A6A-4ADA-AD5C-25FA63DDC43D}" type="slidenum">
              <a:rPr lang="en-IN" smtClean="0"/>
              <a:t>‹#›</a:t>
            </a:fld>
            <a:endParaRPr lang="en-IN"/>
          </a:p>
        </p:txBody>
      </p:sp>
    </p:spTree>
    <p:extLst>
      <p:ext uri="{BB962C8B-B14F-4D97-AF65-F5344CB8AC3E}">
        <p14:creationId xmlns:p14="http://schemas.microsoft.com/office/powerpoint/2010/main" val="26627956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0BDE1D-9B49-6ECC-E013-8DC3A562995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753226A-640E-8C52-5BAC-02EEDF97ED6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159210E-4A55-9102-31AB-91E4E1A8C161}"/>
              </a:ext>
            </a:extLst>
          </p:cNvPr>
          <p:cNvSpPr>
            <a:spLocks noGrp="1"/>
          </p:cNvSpPr>
          <p:nvPr>
            <p:ph type="dt" sz="half" idx="10"/>
          </p:nvPr>
        </p:nvSpPr>
        <p:spPr/>
        <p:txBody>
          <a:bodyPr/>
          <a:lstStyle/>
          <a:p>
            <a:fld id="{2CB0F5BE-C630-496F-AD7C-2D7DAD4A8D61}" type="datetimeFigureOut">
              <a:rPr lang="en-IN" smtClean="0"/>
              <a:t>21-01-2026</a:t>
            </a:fld>
            <a:endParaRPr lang="en-IN"/>
          </a:p>
        </p:txBody>
      </p:sp>
      <p:sp>
        <p:nvSpPr>
          <p:cNvPr id="5" name="Footer Placeholder 4">
            <a:extLst>
              <a:ext uri="{FF2B5EF4-FFF2-40B4-BE49-F238E27FC236}">
                <a16:creationId xmlns:a16="http://schemas.microsoft.com/office/drawing/2014/main" id="{166E6F71-0EF0-F295-4B90-64E4754DC3C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7D4006E-97D6-EB4F-36BF-A3125FEF93FE}"/>
              </a:ext>
            </a:extLst>
          </p:cNvPr>
          <p:cNvSpPr>
            <a:spLocks noGrp="1"/>
          </p:cNvSpPr>
          <p:nvPr>
            <p:ph type="sldNum" sz="quarter" idx="12"/>
          </p:nvPr>
        </p:nvSpPr>
        <p:spPr/>
        <p:txBody>
          <a:bodyPr/>
          <a:lstStyle/>
          <a:p>
            <a:fld id="{0B86BCC8-2A6A-4ADA-AD5C-25FA63DDC43D}" type="slidenum">
              <a:rPr lang="en-IN" smtClean="0"/>
              <a:t>‹#›</a:t>
            </a:fld>
            <a:endParaRPr lang="en-IN"/>
          </a:p>
        </p:txBody>
      </p:sp>
    </p:spTree>
    <p:extLst>
      <p:ext uri="{BB962C8B-B14F-4D97-AF65-F5344CB8AC3E}">
        <p14:creationId xmlns:p14="http://schemas.microsoft.com/office/powerpoint/2010/main" val="3642558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1301C71-BB22-9976-6E1D-A34B2A9D17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1392C12-B8B1-AA0B-5B93-24D58A0EAC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7B36D0A-D72D-F360-82F9-E91641A22B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CB0F5BE-C630-496F-AD7C-2D7DAD4A8D61}" type="datetimeFigureOut">
              <a:rPr lang="en-IN" smtClean="0"/>
              <a:t>21-01-2026</a:t>
            </a:fld>
            <a:endParaRPr lang="en-IN"/>
          </a:p>
        </p:txBody>
      </p:sp>
      <p:sp>
        <p:nvSpPr>
          <p:cNvPr id="5" name="Footer Placeholder 4">
            <a:extLst>
              <a:ext uri="{FF2B5EF4-FFF2-40B4-BE49-F238E27FC236}">
                <a16:creationId xmlns:a16="http://schemas.microsoft.com/office/drawing/2014/main" id="{EAD485CB-4D99-FD2D-6FEF-010056B94B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601F71E1-7463-F7AB-3A81-B0A1D2D2BD7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B86BCC8-2A6A-4ADA-AD5C-25FA63DDC43D}" type="slidenum">
              <a:rPr lang="en-IN" smtClean="0"/>
              <a:t>‹#›</a:t>
            </a:fld>
            <a:endParaRPr lang="en-IN"/>
          </a:p>
        </p:txBody>
      </p:sp>
    </p:spTree>
    <p:extLst>
      <p:ext uri="{BB962C8B-B14F-4D97-AF65-F5344CB8AC3E}">
        <p14:creationId xmlns:p14="http://schemas.microsoft.com/office/powerpoint/2010/main" val="2027189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CDB4E-41B7-9077-35A2-54B1225A886D}"/>
              </a:ext>
            </a:extLst>
          </p:cNvPr>
          <p:cNvSpPr>
            <a:spLocks noGrp="1"/>
          </p:cNvSpPr>
          <p:nvPr>
            <p:ph type="ctrTitle"/>
          </p:nvPr>
        </p:nvSpPr>
        <p:spPr/>
        <p:txBody>
          <a:bodyPr/>
          <a:lstStyle/>
          <a:p>
            <a:r>
              <a:rPr lang="en-US" dirty="0"/>
              <a:t>Voyage Analytics – End-to-End </a:t>
            </a:r>
            <a:r>
              <a:rPr lang="en-US" dirty="0" err="1"/>
              <a:t>MLOps</a:t>
            </a:r>
            <a:r>
              <a:rPr lang="en-US" dirty="0"/>
              <a:t> Project Report </a:t>
            </a:r>
            <a:endParaRPr lang="en-IN" dirty="0"/>
          </a:p>
        </p:txBody>
      </p:sp>
      <p:sp>
        <p:nvSpPr>
          <p:cNvPr id="3" name="Subtitle 2">
            <a:extLst>
              <a:ext uri="{FF2B5EF4-FFF2-40B4-BE49-F238E27FC236}">
                <a16:creationId xmlns:a16="http://schemas.microsoft.com/office/drawing/2014/main" id="{B7A37FE2-DCB5-846C-6611-49ACD39842CF}"/>
              </a:ext>
            </a:extLst>
          </p:cNvPr>
          <p:cNvSpPr>
            <a:spLocks noGrp="1"/>
          </p:cNvSpPr>
          <p:nvPr>
            <p:ph type="subTitle" idx="1"/>
          </p:nvPr>
        </p:nvSpPr>
        <p:spPr/>
        <p:txBody>
          <a:bodyPr/>
          <a:lstStyle/>
          <a:p>
            <a:r>
              <a:rPr lang="en-IN" dirty="0"/>
              <a:t>By Mustafiz Ahmed </a:t>
            </a:r>
          </a:p>
          <a:p>
            <a:r>
              <a:rPr lang="en-IN" dirty="0"/>
              <a:t>Labmentix</a:t>
            </a:r>
          </a:p>
        </p:txBody>
      </p:sp>
    </p:spTree>
    <p:extLst>
      <p:ext uri="{BB962C8B-B14F-4D97-AF65-F5344CB8AC3E}">
        <p14:creationId xmlns:p14="http://schemas.microsoft.com/office/powerpoint/2010/main" val="24062745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E5CFD-58B5-6C24-58D6-FF4653D50011}"/>
              </a:ext>
            </a:extLst>
          </p:cNvPr>
          <p:cNvSpPr>
            <a:spLocks noGrp="1"/>
          </p:cNvSpPr>
          <p:nvPr>
            <p:ph type="title"/>
          </p:nvPr>
        </p:nvSpPr>
        <p:spPr/>
        <p:txBody>
          <a:bodyPr/>
          <a:lstStyle/>
          <a:p>
            <a:r>
              <a:rPr lang="en-US" dirty="0"/>
              <a:t>1. Introduction</a:t>
            </a:r>
            <a:endParaRPr lang="en-IN" dirty="0"/>
          </a:p>
        </p:txBody>
      </p:sp>
      <p:sp>
        <p:nvSpPr>
          <p:cNvPr id="3" name="Content Placeholder 2">
            <a:extLst>
              <a:ext uri="{FF2B5EF4-FFF2-40B4-BE49-F238E27FC236}">
                <a16:creationId xmlns:a16="http://schemas.microsoft.com/office/drawing/2014/main" id="{07CF50E1-7E1C-5FAC-558C-6A22A27C8D78}"/>
              </a:ext>
            </a:extLst>
          </p:cNvPr>
          <p:cNvSpPr>
            <a:spLocks noGrp="1"/>
          </p:cNvSpPr>
          <p:nvPr>
            <p:ph idx="1"/>
          </p:nvPr>
        </p:nvSpPr>
        <p:spPr/>
        <p:txBody>
          <a:bodyPr/>
          <a:lstStyle/>
          <a:p>
            <a:r>
              <a:rPr lang="en-US" dirty="0"/>
              <a:t>Voyage Analytics is an end-to-end </a:t>
            </a:r>
            <a:r>
              <a:rPr lang="en-US" dirty="0" err="1"/>
              <a:t>MLOps</a:t>
            </a:r>
            <a:r>
              <a:rPr lang="en-US" dirty="0"/>
              <a:t> project designed to demonstrate how a machine learning model can be developed, deployed, and scaled in a production environment within the travel industry. The system focuses primarily on flight price prediction and showcases modern industry-grade tools and practices.</a:t>
            </a:r>
            <a:endParaRPr lang="en-IN" dirty="0"/>
          </a:p>
        </p:txBody>
      </p:sp>
    </p:spTree>
    <p:extLst>
      <p:ext uri="{BB962C8B-B14F-4D97-AF65-F5344CB8AC3E}">
        <p14:creationId xmlns:p14="http://schemas.microsoft.com/office/powerpoint/2010/main" val="2479970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9EBC6-7961-FFEF-83A7-7B57624F8591}"/>
              </a:ext>
            </a:extLst>
          </p:cNvPr>
          <p:cNvSpPr>
            <a:spLocks noGrp="1"/>
          </p:cNvSpPr>
          <p:nvPr>
            <p:ph type="title"/>
          </p:nvPr>
        </p:nvSpPr>
        <p:spPr/>
        <p:txBody>
          <a:bodyPr/>
          <a:lstStyle/>
          <a:p>
            <a:r>
              <a:rPr lang="en-IN" dirty="0"/>
              <a:t>2. Business Problem</a:t>
            </a:r>
          </a:p>
        </p:txBody>
      </p:sp>
      <p:sp>
        <p:nvSpPr>
          <p:cNvPr id="3" name="Content Placeholder 2">
            <a:extLst>
              <a:ext uri="{FF2B5EF4-FFF2-40B4-BE49-F238E27FC236}">
                <a16:creationId xmlns:a16="http://schemas.microsoft.com/office/drawing/2014/main" id="{589F4EAF-B1C2-ECF2-7998-47AA8489ABE6}"/>
              </a:ext>
            </a:extLst>
          </p:cNvPr>
          <p:cNvSpPr>
            <a:spLocks noGrp="1"/>
          </p:cNvSpPr>
          <p:nvPr>
            <p:ph idx="1"/>
          </p:nvPr>
        </p:nvSpPr>
        <p:spPr/>
        <p:txBody>
          <a:bodyPr/>
          <a:lstStyle/>
          <a:p>
            <a:pPr marL="0" indent="0">
              <a:buNone/>
            </a:pPr>
            <a:r>
              <a:rPr lang="en-US" dirty="0"/>
              <a:t>Flight prices fluctuate based on multiple factors such as route, airline, class, time, and seasonality. Airlines and travel agencies require accurate price predictions to optimize revenue, improve customer trust, and enable data-driven pricing strategies.</a:t>
            </a:r>
            <a:endParaRPr lang="en-IN" dirty="0"/>
          </a:p>
        </p:txBody>
      </p:sp>
    </p:spTree>
    <p:extLst>
      <p:ext uri="{BB962C8B-B14F-4D97-AF65-F5344CB8AC3E}">
        <p14:creationId xmlns:p14="http://schemas.microsoft.com/office/powerpoint/2010/main" val="1411170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E3652-2DF8-814C-253D-7EF72C8CF245}"/>
              </a:ext>
            </a:extLst>
          </p:cNvPr>
          <p:cNvSpPr>
            <a:spLocks noGrp="1"/>
          </p:cNvSpPr>
          <p:nvPr>
            <p:ph type="title"/>
          </p:nvPr>
        </p:nvSpPr>
        <p:spPr/>
        <p:txBody>
          <a:bodyPr/>
          <a:lstStyle/>
          <a:p>
            <a:r>
              <a:rPr lang="en-IN" dirty="0"/>
              <a:t>3. Dataset Description</a:t>
            </a:r>
          </a:p>
        </p:txBody>
      </p:sp>
      <p:sp>
        <p:nvSpPr>
          <p:cNvPr id="3" name="Content Placeholder 2">
            <a:extLst>
              <a:ext uri="{FF2B5EF4-FFF2-40B4-BE49-F238E27FC236}">
                <a16:creationId xmlns:a16="http://schemas.microsoft.com/office/drawing/2014/main" id="{35CAB9BF-576B-A4ED-C659-CC611D9064BE}"/>
              </a:ext>
            </a:extLst>
          </p:cNvPr>
          <p:cNvSpPr>
            <a:spLocks noGrp="1"/>
          </p:cNvSpPr>
          <p:nvPr>
            <p:ph idx="1"/>
          </p:nvPr>
        </p:nvSpPr>
        <p:spPr/>
        <p:txBody>
          <a:bodyPr/>
          <a:lstStyle/>
          <a:p>
            <a:pPr marL="0" indent="0">
              <a:buNone/>
            </a:pPr>
            <a:r>
              <a:rPr lang="en-US" dirty="0"/>
              <a:t>The project uses enterprise-scale travel data collected over nearly four years:</a:t>
            </a:r>
          </a:p>
          <a:p>
            <a:pPr marL="0" indent="0">
              <a:buNone/>
            </a:pPr>
            <a:r>
              <a:rPr lang="en-US" dirty="0"/>
              <a:t> - 271,888 flight records (Sep 2019 – Jul 2023)</a:t>
            </a:r>
          </a:p>
          <a:p>
            <a:pPr marL="0" indent="0">
              <a:buNone/>
            </a:pPr>
            <a:r>
              <a:rPr lang="en-US" dirty="0"/>
              <a:t> - 40,552 hotel bookings </a:t>
            </a:r>
          </a:p>
          <a:p>
            <a:pPr>
              <a:buFontTx/>
              <a:buChar char="-"/>
            </a:pPr>
            <a:r>
              <a:rPr lang="en-US" dirty="0"/>
              <a:t>1,340 user profiles </a:t>
            </a:r>
          </a:p>
          <a:p>
            <a:pPr marL="0" indent="0">
              <a:buNone/>
            </a:pPr>
            <a:r>
              <a:rPr lang="en-US" dirty="0"/>
              <a:t>- Data from 9 major cities in Brazil</a:t>
            </a:r>
            <a:endParaRPr lang="en-IN" dirty="0"/>
          </a:p>
        </p:txBody>
      </p:sp>
    </p:spTree>
    <p:extLst>
      <p:ext uri="{BB962C8B-B14F-4D97-AF65-F5344CB8AC3E}">
        <p14:creationId xmlns:p14="http://schemas.microsoft.com/office/powerpoint/2010/main" val="42346328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B6B98-A3B0-0513-386A-53742EB36D33}"/>
              </a:ext>
            </a:extLst>
          </p:cNvPr>
          <p:cNvSpPr>
            <a:spLocks noGrp="1"/>
          </p:cNvSpPr>
          <p:nvPr>
            <p:ph type="title"/>
          </p:nvPr>
        </p:nvSpPr>
        <p:spPr/>
        <p:txBody>
          <a:bodyPr/>
          <a:lstStyle/>
          <a:p>
            <a:r>
              <a:rPr lang="en-IN" dirty="0"/>
              <a:t>4. Machine Learning Models</a:t>
            </a:r>
          </a:p>
        </p:txBody>
      </p:sp>
      <p:sp>
        <p:nvSpPr>
          <p:cNvPr id="3" name="Content Placeholder 2">
            <a:extLst>
              <a:ext uri="{FF2B5EF4-FFF2-40B4-BE49-F238E27FC236}">
                <a16:creationId xmlns:a16="http://schemas.microsoft.com/office/drawing/2014/main" id="{5FDA5690-07F5-C80B-5216-038664E05097}"/>
              </a:ext>
            </a:extLst>
          </p:cNvPr>
          <p:cNvSpPr>
            <a:spLocks noGrp="1"/>
          </p:cNvSpPr>
          <p:nvPr>
            <p:ph idx="1"/>
          </p:nvPr>
        </p:nvSpPr>
        <p:spPr/>
        <p:txBody>
          <a:bodyPr>
            <a:normAutofit fontScale="55000" lnSpcReduction="20000"/>
          </a:bodyPr>
          <a:lstStyle/>
          <a:p>
            <a:pPr marL="0" indent="0">
              <a:buNone/>
            </a:pPr>
            <a:r>
              <a:rPr lang="en-US" dirty="0"/>
              <a:t>Primary Model: Flight Price Prediction </a:t>
            </a:r>
          </a:p>
          <a:p>
            <a:pPr marL="0" indent="0">
              <a:buNone/>
            </a:pPr>
            <a:r>
              <a:rPr lang="en-US" dirty="0"/>
              <a:t>Algorithm: Random Forest Regressor </a:t>
            </a:r>
          </a:p>
          <a:p>
            <a:pPr marL="0" indent="0">
              <a:buNone/>
            </a:pPr>
            <a:r>
              <a:rPr lang="en-US" dirty="0"/>
              <a:t>Key Features Used: </a:t>
            </a:r>
          </a:p>
          <a:p>
            <a:pPr>
              <a:buFontTx/>
              <a:buChar char="-"/>
            </a:pPr>
            <a:r>
              <a:rPr lang="en-US" dirty="0"/>
              <a:t>Flight class (economic, premium, first class) </a:t>
            </a:r>
          </a:p>
          <a:p>
            <a:pPr>
              <a:buFontTx/>
              <a:buChar char="-"/>
            </a:pPr>
            <a:r>
              <a:rPr lang="en-US" dirty="0"/>
              <a:t>Flight duration (hours) - Distance (kilometers) </a:t>
            </a:r>
          </a:p>
          <a:p>
            <a:pPr>
              <a:buFontTx/>
              <a:buChar char="-"/>
            </a:pPr>
            <a:r>
              <a:rPr lang="en-US" dirty="0"/>
              <a:t>Booking agency </a:t>
            </a:r>
          </a:p>
          <a:p>
            <a:pPr>
              <a:buFontTx/>
              <a:buChar char="-"/>
            </a:pPr>
            <a:r>
              <a:rPr lang="en-US" dirty="0"/>
              <a:t>Origin and destination cities </a:t>
            </a:r>
          </a:p>
          <a:p>
            <a:pPr>
              <a:buFontTx/>
              <a:buChar char="-"/>
            </a:pPr>
            <a:r>
              <a:rPr lang="en-US" dirty="0"/>
              <a:t>Temporal features (month, day of week, quarter) </a:t>
            </a:r>
          </a:p>
          <a:p>
            <a:pPr marL="0" indent="0">
              <a:buNone/>
            </a:pPr>
            <a:r>
              <a:rPr lang="en-US" dirty="0"/>
              <a:t>Performance Metrics: </a:t>
            </a:r>
          </a:p>
          <a:p>
            <a:pPr>
              <a:buFontTx/>
              <a:buChar char="-"/>
            </a:pPr>
            <a:r>
              <a:rPr lang="en-US" dirty="0"/>
              <a:t>R² Score: 1.0000 </a:t>
            </a:r>
          </a:p>
          <a:p>
            <a:pPr>
              <a:buFontTx/>
              <a:buChar char="-"/>
            </a:pPr>
            <a:r>
              <a:rPr lang="en-US" dirty="0"/>
              <a:t>- Mean Absolute Error (MAE): $0.00 </a:t>
            </a:r>
          </a:p>
          <a:p>
            <a:pPr>
              <a:buFontTx/>
              <a:buChar char="-"/>
            </a:pPr>
            <a:r>
              <a:rPr lang="en-US" dirty="0"/>
              <a:t>- RMSE: $0.03 </a:t>
            </a:r>
          </a:p>
          <a:p>
            <a:pPr marL="0" indent="0">
              <a:buNone/>
            </a:pPr>
            <a:r>
              <a:rPr lang="en-US" dirty="0"/>
              <a:t>Additional Models: </a:t>
            </a:r>
          </a:p>
          <a:p>
            <a:pPr>
              <a:buFontTx/>
              <a:buChar char="-"/>
            </a:pPr>
            <a:r>
              <a:rPr lang="en-US" dirty="0"/>
              <a:t>Gender classification based on travel behavior </a:t>
            </a:r>
          </a:p>
          <a:p>
            <a:pPr marL="0" indent="0">
              <a:buNone/>
            </a:pPr>
            <a:r>
              <a:rPr lang="en-US" dirty="0"/>
              <a:t>- Hotel recommendation system using collaborative filtering</a:t>
            </a:r>
            <a:endParaRPr lang="en-IN" dirty="0"/>
          </a:p>
        </p:txBody>
      </p:sp>
    </p:spTree>
    <p:extLst>
      <p:ext uri="{BB962C8B-B14F-4D97-AF65-F5344CB8AC3E}">
        <p14:creationId xmlns:p14="http://schemas.microsoft.com/office/powerpoint/2010/main" val="32958970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63B21-9C41-3509-887F-BAD4CAF46CF1}"/>
              </a:ext>
            </a:extLst>
          </p:cNvPr>
          <p:cNvSpPr>
            <a:spLocks noGrp="1"/>
          </p:cNvSpPr>
          <p:nvPr>
            <p:ph type="title"/>
          </p:nvPr>
        </p:nvSpPr>
        <p:spPr/>
        <p:txBody>
          <a:bodyPr/>
          <a:lstStyle/>
          <a:p>
            <a:r>
              <a:rPr lang="en-IN" dirty="0"/>
              <a:t>5. System Architecture</a:t>
            </a:r>
          </a:p>
        </p:txBody>
      </p:sp>
      <p:sp>
        <p:nvSpPr>
          <p:cNvPr id="3" name="Content Placeholder 2">
            <a:extLst>
              <a:ext uri="{FF2B5EF4-FFF2-40B4-BE49-F238E27FC236}">
                <a16:creationId xmlns:a16="http://schemas.microsoft.com/office/drawing/2014/main" id="{96955CDE-26BC-2671-CF7A-C5BB0380FBBC}"/>
              </a:ext>
            </a:extLst>
          </p:cNvPr>
          <p:cNvSpPr>
            <a:spLocks noGrp="1"/>
          </p:cNvSpPr>
          <p:nvPr>
            <p:ph idx="1"/>
          </p:nvPr>
        </p:nvSpPr>
        <p:spPr/>
        <p:txBody>
          <a:bodyPr>
            <a:normAutofit lnSpcReduction="10000"/>
          </a:bodyPr>
          <a:lstStyle/>
          <a:p>
            <a:pPr marL="0" indent="0">
              <a:buNone/>
            </a:pPr>
            <a:r>
              <a:rPr lang="en-IN" dirty="0"/>
              <a:t>The project follows a complete production-grade </a:t>
            </a:r>
            <a:r>
              <a:rPr lang="en-IN" dirty="0" err="1"/>
              <a:t>MLOps</a:t>
            </a:r>
            <a:r>
              <a:rPr lang="en-IN" dirty="0"/>
              <a:t> architecture:</a:t>
            </a:r>
          </a:p>
          <a:p>
            <a:pPr marL="0" indent="0">
              <a:buNone/>
            </a:pPr>
            <a:r>
              <a:rPr lang="en-IN" dirty="0"/>
              <a:t> - Data Layer: CSV-based travel datasets </a:t>
            </a:r>
          </a:p>
          <a:p>
            <a:pPr>
              <a:buFontTx/>
              <a:buChar char="-"/>
            </a:pPr>
            <a:r>
              <a:rPr lang="en-IN" dirty="0"/>
              <a:t>Model Training: scikit-learn with hyperparameter tuning </a:t>
            </a:r>
          </a:p>
          <a:p>
            <a:pPr>
              <a:buFontTx/>
              <a:buChar char="-"/>
            </a:pPr>
            <a:r>
              <a:rPr lang="en-IN" dirty="0"/>
              <a:t>Experiment Tracking: </a:t>
            </a:r>
            <a:r>
              <a:rPr lang="en-IN" dirty="0" err="1"/>
              <a:t>MLflow</a:t>
            </a:r>
            <a:r>
              <a:rPr lang="en-IN" dirty="0"/>
              <a:t> </a:t>
            </a:r>
          </a:p>
          <a:p>
            <a:pPr>
              <a:buFontTx/>
              <a:buChar char="-"/>
            </a:pPr>
            <a:r>
              <a:rPr lang="en-IN" dirty="0"/>
              <a:t>API Layer: Flask REST API </a:t>
            </a:r>
          </a:p>
          <a:p>
            <a:pPr>
              <a:buFontTx/>
              <a:buChar char="-"/>
            </a:pPr>
            <a:r>
              <a:rPr lang="en-IN" dirty="0"/>
              <a:t>Containerization: Docker </a:t>
            </a:r>
          </a:p>
          <a:p>
            <a:pPr>
              <a:buFontTx/>
              <a:buChar char="-"/>
            </a:pPr>
            <a:r>
              <a:rPr lang="en-IN" dirty="0"/>
              <a:t>Orchestration: Kubernetes (2 replicas) </a:t>
            </a:r>
          </a:p>
          <a:p>
            <a:pPr marL="0" indent="0">
              <a:buNone/>
            </a:pPr>
            <a:r>
              <a:rPr lang="en-IN" dirty="0"/>
              <a:t>- User Interface: </a:t>
            </a:r>
            <a:r>
              <a:rPr lang="en-IN" dirty="0" err="1"/>
              <a:t>Streamlit</a:t>
            </a:r>
            <a:r>
              <a:rPr lang="en-IN" dirty="0"/>
              <a:t> dashboard</a:t>
            </a:r>
          </a:p>
        </p:txBody>
      </p:sp>
    </p:spTree>
    <p:extLst>
      <p:ext uri="{BB962C8B-B14F-4D97-AF65-F5344CB8AC3E}">
        <p14:creationId xmlns:p14="http://schemas.microsoft.com/office/powerpoint/2010/main" val="29548061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51AE8-0A10-50E0-AC58-DA8A13BC0924}"/>
              </a:ext>
            </a:extLst>
          </p:cNvPr>
          <p:cNvSpPr>
            <a:spLocks noGrp="1"/>
          </p:cNvSpPr>
          <p:nvPr>
            <p:ph type="title"/>
          </p:nvPr>
        </p:nvSpPr>
        <p:spPr/>
        <p:txBody>
          <a:bodyPr/>
          <a:lstStyle/>
          <a:p>
            <a:r>
              <a:rPr lang="en-IN" dirty="0"/>
              <a:t>6. Technology Stack</a:t>
            </a:r>
          </a:p>
        </p:txBody>
      </p:sp>
      <p:sp>
        <p:nvSpPr>
          <p:cNvPr id="3" name="Content Placeholder 2">
            <a:extLst>
              <a:ext uri="{FF2B5EF4-FFF2-40B4-BE49-F238E27FC236}">
                <a16:creationId xmlns:a16="http://schemas.microsoft.com/office/drawing/2014/main" id="{48CD7E13-365F-B7A3-C8CC-836899928BC3}"/>
              </a:ext>
            </a:extLst>
          </p:cNvPr>
          <p:cNvSpPr>
            <a:spLocks noGrp="1"/>
          </p:cNvSpPr>
          <p:nvPr>
            <p:ph idx="1"/>
          </p:nvPr>
        </p:nvSpPr>
        <p:spPr/>
        <p:txBody>
          <a:bodyPr/>
          <a:lstStyle/>
          <a:p>
            <a:pPr>
              <a:buFontTx/>
              <a:buChar char="-"/>
            </a:pPr>
            <a:r>
              <a:rPr lang="en-IN" dirty="0"/>
              <a:t>Programming Language: Python 3.11 </a:t>
            </a:r>
          </a:p>
          <a:p>
            <a:pPr>
              <a:buFontTx/>
              <a:buChar char="-"/>
            </a:pPr>
            <a:r>
              <a:rPr lang="en-IN" dirty="0"/>
              <a:t>Machine Learning: scikit-learn, pandas, </a:t>
            </a:r>
            <a:r>
              <a:rPr lang="en-IN" dirty="0" err="1"/>
              <a:t>numpy</a:t>
            </a:r>
            <a:r>
              <a:rPr lang="en-IN" dirty="0"/>
              <a:t> </a:t>
            </a:r>
          </a:p>
          <a:p>
            <a:pPr>
              <a:buFontTx/>
              <a:buChar char="-"/>
            </a:pPr>
            <a:r>
              <a:rPr lang="en-IN" dirty="0"/>
              <a:t>API Framework: Flask with CORS </a:t>
            </a:r>
          </a:p>
          <a:p>
            <a:pPr>
              <a:buFontTx/>
              <a:buChar char="-"/>
            </a:pPr>
            <a:r>
              <a:rPr lang="en-IN" dirty="0"/>
              <a:t>Experiment Tracking: </a:t>
            </a:r>
            <a:r>
              <a:rPr lang="en-IN" dirty="0" err="1"/>
              <a:t>MLflow</a:t>
            </a:r>
            <a:r>
              <a:rPr lang="en-IN" dirty="0"/>
              <a:t> </a:t>
            </a:r>
          </a:p>
          <a:p>
            <a:pPr>
              <a:buFontTx/>
              <a:buChar char="-"/>
            </a:pPr>
            <a:r>
              <a:rPr lang="en-IN" dirty="0"/>
              <a:t>Containerization: Docker </a:t>
            </a:r>
          </a:p>
          <a:p>
            <a:pPr>
              <a:buFontTx/>
              <a:buChar char="-"/>
            </a:pPr>
            <a:r>
              <a:rPr lang="en-IN" dirty="0"/>
              <a:t>Orchestration: Kubernetes </a:t>
            </a:r>
          </a:p>
          <a:p>
            <a:pPr marL="0" indent="0">
              <a:buNone/>
            </a:pPr>
            <a:r>
              <a:rPr lang="en-IN" dirty="0"/>
              <a:t>- Visualization &amp; UI: </a:t>
            </a:r>
            <a:r>
              <a:rPr lang="en-IN" dirty="0" err="1"/>
              <a:t>Streamlit</a:t>
            </a:r>
            <a:r>
              <a:rPr lang="en-IN" dirty="0"/>
              <a:t>, </a:t>
            </a:r>
            <a:r>
              <a:rPr lang="en-IN" dirty="0" err="1"/>
              <a:t>Plotly</a:t>
            </a:r>
            <a:endParaRPr lang="en-IN" dirty="0"/>
          </a:p>
        </p:txBody>
      </p:sp>
    </p:spTree>
    <p:extLst>
      <p:ext uri="{BB962C8B-B14F-4D97-AF65-F5344CB8AC3E}">
        <p14:creationId xmlns:p14="http://schemas.microsoft.com/office/powerpoint/2010/main" val="42489461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411C2-F603-D0C7-1229-BF47560D1831}"/>
              </a:ext>
            </a:extLst>
          </p:cNvPr>
          <p:cNvSpPr>
            <a:spLocks noGrp="1"/>
          </p:cNvSpPr>
          <p:nvPr>
            <p:ph type="title"/>
          </p:nvPr>
        </p:nvSpPr>
        <p:spPr/>
        <p:txBody>
          <a:bodyPr/>
          <a:lstStyle/>
          <a:p>
            <a:r>
              <a:rPr lang="en-IN" dirty="0"/>
              <a:t>7. Deployment &amp; </a:t>
            </a:r>
            <a:r>
              <a:rPr lang="en-IN" dirty="0" err="1"/>
              <a:t>MLOps</a:t>
            </a:r>
            <a:r>
              <a:rPr lang="en-IN" dirty="0"/>
              <a:t> Practices</a:t>
            </a:r>
          </a:p>
        </p:txBody>
      </p:sp>
      <p:sp>
        <p:nvSpPr>
          <p:cNvPr id="3" name="Content Placeholder 2">
            <a:extLst>
              <a:ext uri="{FF2B5EF4-FFF2-40B4-BE49-F238E27FC236}">
                <a16:creationId xmlns:a16="http://schemas.microsoft.com/office/drawing/2014/main" id="{E24D32D1-B23C-EF21-7177-2FA271EB2A23}"/>
              </a:ext>
            </a:extLst>
          </p:cNvPr>
          <p:cNvSpPr>
            <a:spLocks noGrp="1"/>
          </p:cNvSpPr>
          <p:nvPr>
            <p:ph idx="1"/>
          </p:nvPr>
        </p:nvSpPr>
        <p:spPr/>
        <p:txBody>
          <a:bodyPr/>
          <a:lstStyle/>
          <a:p>
            <a:pPr marL="0" indent="0">
              <a:buNone/>
            </a:pPr>
            <a:r>
              <a:rPr lang="en-US" dirty="0"/>
              <a:t>The model is packaged into a Docker container and deployed on a Kubernetes cluster with two replicas for high availability. </a:t>
            </a:r>
            <a:r>
              <a:rPr lang="en-US" dirty="0" err="1"/>
              <a:t>MLflow</a:t>
            </a:r>
            <a:r>
              <a:rPr lang="en-US" dirty="0"/>
              <a:t> is used to track experiments, parameters, metrics, and artifacts. The system supports scalable, reproducible, and version-controlled machine learning deployments.</a:t>
            </a:r>
            <a:endParaRPr lang="en-IN" dirty="0"/>
          </a:p>
        </p:txBody>
      </p:sp>
    </p:spTree>
    <p:extLst>
      <p:ext uri="{BB962C8B-B14F-4D97-AF65-F5344CB8AC3E}">
        <p14:creationId xmlns:p14="http://schemas.microsoft.com/office/powerpoint/2010/main" val="15842824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8D7A8-BFC3-3343-33C6-50345E1F1B12}"/>
              </a:ext>
            </a:extLst>
          </p:cNvPr>
          <p:cNvSpPr>
            <a:spLocks noGrp="1"/>
          </p:cNvSpPr>
          <p:nvPr>
            <p:ph type="title"/>
          </p:nvPr>
        </p:nvSpPr>
        <p:spPr/>
        <p:txBody>
          <a:bodyPr/>
          <a:lstStyle/>
          <a:p>
            <a:r>
              <a:rPr lang="en-IN" dirty="0"/>
              <a:t>8. Results &amp; Business Impact</a:t>
            </a:r>
          </a:p>
        </p:txBody>
      </p:sp>
      <p:sp>
        <p:nvSpPr>
          <p:cNvPr id="3" name="Content Placeholder 2">
            <a:extLst>
              <a:ext uri="{FF2B5EF4-FFF2-40B4-BE49-F238E27FC236}">
                <a16:creationId xmlns:a16="http://schemas.microsoft.com/office/drawing/2014/main" id="{6DB36D1C-8FF3-C0D0-409E-66DBD5D0747D}"/>
              </a:ext>
            </a:extLst>
          </p:cNvPr>
          <p:cNvSpPr>
            <a:spLocks noGrp="1"/>
          </p:cNvSpPr>
          <p:nvPr>
            <p:ph idx="1"/>
          </p:nvPr>
        </p:nvSpPr>
        <p:spPr/>
        <p:txBody>
          <a:bodyPr/>
          <a:lstStyle/>
          <a:p>
            <a:pPr marL="0" indent="0">
              <a:buNone/>
            </a:pPr>
            <a:r>
              <a:rPr lang="en-US" dirty="0"/>
              <a:t>Technical Results: </a:t>
            </a:r>
          </a:p>
          <a:p>
            <a:pPr>
              <a:buFontTx/>
              <a:buChar char="-"/>
            </a:pPr>
            <a:r>
              <a:rPr lang="en-US" dirty="0"/>
              <a:t>High-availability deployment with Kubernetes </a:t>
            </a:r>
          </a:p>
          <a:p>
            <a:pPr>
              <a:buFontTx/>
              <a:buChar char="-"/>
            </a:pPr>
            <a:r>
              <a:rPr lang="en-US" dirty="0"/>
              <a:t>Sub-100ms prediction latency </a:t>
            </a:r>
          </a:p>
          <a:p>
            <a:pPr>
              <a:buFontTx/>
              <a:buChar char="-"/>
            </a:pPr>
            <a:r>
              <a:rPr lang="en-US" dirty="0"/>
              <a:t>Perfect predictive performance on test data </a:t>
            </a:r>
          </a:p>
          <a:p>
            <a:pPr marL="0" indent="0">
              <a:buNone/>
            </a:pPr>
            <a:r>
              <a:rPr lang="en-US" dirty="0"/>
              <a:t>Business Impact: </a:t>
            </a:r>
          </a:p>
          <a:p>
            <a:pPr>
              <a:buFontTx/>
              <a:buChar char="-"/>
            </a:pPr>
            <a:r>
              <a:rPr lang="en-US" dirty="0"/>
              <a:t>Airlines: Improved pricing optimization and revenue maximization</a:t>
            </a:r>
          </a:p>
          <a:p>
            <a:pPr marL="0" indent="0">
              <a:buNone/>
            </a:pPr>
            <a:r>
              <a:rPr lang="en-US" dirty="0"/>
              <a:t>- Travel Agencies: Better price recommendations and automation </a:t>
            </a:r>
          </a:p>
          <a:p>
            <a:pPr marL="0" indent="0">
              <a:buNone/>
            </a:pPr>
            <a:r>
              <a:rPr lang="en-US" dirty="0"/>
              <a:t>- Customers: Transparent and reliable pricing insights</a:t>
            </a:r>
            <a:endParaRPr lang="en-IN" dirty="0"/>
          </a:p>
        </p:txBody>
      </p:sp>
    </p:spTree>
    <p:extLst>
      <p:ext uri="{BB962C8B-B14F-4D97-AF65-F5344CB8AC3E}">
        <p14:creationId xmlns:p14="http://schemas.microsoft.com/office/powerpoint/2010/main" val="39401659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B1CD7-EE57-4AF4-1B06-8AB80BBB8CD9}"/>
              </a:ext>
            </a:extLst>
          </p:cNvPr>
          <p:cNvSpPr>
            <a:spLocks noGrp="1"/>
          </p:cNvSpPr>
          <p:nvPr>
            <p:ph type="title"/>
          </p:nvPr>
        </p:nvSpPr>
        <p:spPr/>
        <p:txBody>
          <a:bodyPr/>
          <a:lstStyle/>
          <a:p>
            <a:r>
              <a:rPr lang="en-IN" dirty="0"/>
              <a:t>9. Challenges and Solutions</a:t>
            </a:r>
          </a:p>
        </p:txBody>
      </p:sp>
      <p:sp>
        <p:nvSpPr>
          <p:cNvPr id="3" name="Content Placeholder 2">
            <a:extLst>
              <a:ext uri="{FF2B5EF4-FFF2-40B4-BE49-F238E27FC236}">
                <a16:creationId xmlns:a16="http://schemas.microsoft.com/office/drawing/2014/main" id="{92C84389-B918-999B-2F80-FB638DE0C1D3}"/>
              </a:ext>
            </a:extLst>
          </p:cNvPr>
          <p:cNvSpPr>
            <a:spLocks noGrp="1"/>
          </p:cNvSpPr>
          <p:nvPr>
            <p:ph idx="1"/>
          </p:nvPr>
        </p:nvSpPr>
        <p:spPr/>
        <p:txBody>
          <a:bodyPr/>
          <a:lstStyle/>
          <a:p>
            <a:pPr>
              <a:buFontTx/>
              <a:buChar char="-"/>
            </a:pPr>
            <a:r>
              <a:rPr lang="en-US" dirty="0"/>
              <a:t>Docker path resolution issues solved using dynamic path handling</a:t>
            </a:r>
          </a:p>
          <a:p>
            <a:pPr marL="0" indent="0">
              <a:buNone/>
            </a:pPr>
            <a:r>
              <a:rPr lang="en-US" dirty="0"/>
              <a:t>- Dependency mismatches resolved by strict version pinning </a:t>
            </a:r>
          </a:p>
          <a:p>
            <a:pPr marL="0" indent="0">
              <a:buNone/>
            </a:pPr>
            <a:r>
              <a:rPr lang="en-US" dirty="0"/>
              <a:t>- Kubernetes configuration issues resolved through proper cluster setup and resource definitions</a:t>
            </a:r>
            <a:endParaRPr lang="en-IN" dirty="0"/>
          </a:p>
        </p:txBody>
      </p:sp>
    </p:spTree>
    <p:extLst>
      <p:ext uri="{BB962C8B-B14F-4D97-AF65-F5344CB8AC3E}">
        <p14:creationId xmlns:p14="http://schemas.microsoft.com/office/powerpoint/2010/main" val="427118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8F684-7DFA-5DC5-6436-4E04FBC0FCAB}"/>
              </a:ext>
            </a:extLst>
          </p:cNvPr>
          <p:cNvSpPr>
            <a:spLocks noGrp="1"/>
          </p:cNvSpPr>
          <p:nvPr>
            <p:ph type="title"/>
          </p:nvPr>
        </p:nvSpPr>
        <p:spPr/>
        <p:txBody>
          <a:bodyPr/>
          <a:lstStyle/>
          <a:p>
            <a:r>
              <a:rPr lang="en-IN" dirty="0"/>
              <a:t>10. Future Enhancements</a:t>
            </a:r>
          </a:p>
        </p:txBody>
      </p:sp>
      <p:sp>
        <p:nvSpPr>
          <p:cNvPr id="3" name="Content Placeholder 2">
            <a:extLst>
              <a:ext uri="{FF2B5EF4-FFF2-40B4-BE49-F238E27FC236}">
                <a16:creationId xmlns:a16="http://schemas.microsoft.com/office/drawing/2014/main" id="{F1EEEAE0-E1AE-68EE-12EB-FC6EA0BD5F5D}"/>
              </a:ext>
            </a:extLst>
          </p:cNvPr>
          <p:cNvSpPr>
            <a:spLocks noGrp="1"/>
          </p:cNvSpPr>
          <p:nvPr>
            <p:ph idx="1"/>
          </p:nvPr>
        </p:nvSpPr>
        <p:spPr/>
        <p:txBody>
          <a:bodyPr/>
          <a:lstStyle/>
          <a:p>
            <a:pPr>
              <a:buFontTx/>
              <a:buChar char="-"/>
            </a:pPr>
            <a:r>
              <a:rPr lang="en-IN" dirty="0"/>
              <a:t>Automated retraining and CI/CD pipelines </a:t>
            </a:r>
          </a:p>
          <a:p>
            <a:pPr>
              <a:buFontTx/>
              <a:buChar char="-"/>
            </a:pPr>
            <a:r>
              <a:rPr lang="en-IN" dirty="0"/>
              <a:t>Advanced models including deep learning and time-series forecasting </a:t>
            </a:r>
          </a:p>
          <a:p>
            <a:pPr>
              <a:buFontTx/>
              <a:buChar char="-"/>
            </a:pPr>
            <a:r>
              <a:rPr lang="en-IN" dirty="0"/>
              <a:t>Cloud deployment on AWS/GCP/Azure </a:t>
            </a:r>
          </a:p>
          <a:p>
            <a:pPr>
              <a:buFontTx/>
              <a:buChar char="-"/>
            </a:pPr>
            <a:r>
              <a:rPr lang="en-IN" dirty="0"/>
              <a:t>Monitoring with Prometheus and Grafana </a:t>
            </a:r>
          </a:p>
          <a:p>
            <a:pPr>
              <a:buFontTx/>
              <a:buChar char="-"/>
            </a:pPr>
            <a:r>
              <a:rPr lang="en-IN" dirty="0"/>
              <a:t>Security enhancements (JWT, HTTPS, rate limiting) </a:t>
            </a:r>
          </a:p>
          <a:p>
            <a:pPr marL="0" indent="0">
              <a:buNone/>
            </a:pPr>
            <a:r>
              <a:rPr lang="en-IN" dirty="0"/>
              <a:t>- Explainable AI using SHAP values</a:t>
            </a:r>
          </a:p>
        </p:txBody>
      </p:sp>
    </p:spTree>
    <p:extLst>
      <p:ext uri="{BB962C8B-B14F-4D97-AF65-F5344CB8AC3E}">
        <p14:creationId xmlns:p14="http://schemas.microsoft.com/office/powerpoint/2010/main" val="31028436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D30A2-E104-A8E3-505B-7F1C8BDBEA56}"/>
              </a:ext>
            </a:extLst>
          </p:cNvPr>
          <p:cNvSpPr>
            <a:spLocks noGrp="1"/>
          </p:cNvSpPr>
          <p:nvPr>
            <p:ph type="title"/>
          </p:nvPr>
        </p:nvSpPr>
        <p:spPr/>
        <p:txBody>
          <a:bodyPr/>
          <a:lstStyle/>
          <a:p>
            <a:r>
              <a:rPr lang="en-IN" dirty="0"/>
              <a:t>11. Conclusion</a:t>
            </a:r>
          </a:p>
        </p:txBody>
      </p:sp>
      <p:sp>
        <p:nvSpPr>
          <p:cNvPr id="3" name="Content Placeholder 2">
            <a:extLst>
              <a:ext uri="{FF2B5EF4-FFF2-40B4-BE49-F238E27FC236}">
                <a16:creationId xmlns:a16="http://schemas.microsoft.com/office/drawing/2014/main" id="{2C62765D-6974-C1D2-2945-3A9BBF1DF86F}"/>
              </a:ext>
            </a:extLst>
          </p:cNvPr>
          <p:cNvSpPr>
            <a:spLocks noGrp="1"/>
          </p:cNvSpPr>
          <p:nvPr>
            <p:ph idx="1"/>
          </p:nvPr>
        </p:nvSpPr>
        <p:spPr/>
        <p:txBody>
          <a:bodyPr/>
          <a:lstStyle/>
          <a:p>
            <a:pPr marL="0" indent="0">
              <a:buNone/>
            </a:pPr>
            <a:r>
              <a:rPr lang="en-US" dirty="0"/>
              <a:t>Voyage Analytics demonstrates a complete machine learning lifecycle from data ingestion to production deployment. The project highlights the importance of </a:t>
            </a:r>
            <a:r>
              <a:rPr lang="en-US" dirty="0" err="1"/>
              <a:t>MLOps</a:t>
            </a:r>
            <a:r>
              <a:rPr lang="en-US" dirty="0"/>
              <a:t>, scalability, reproducibility, and user-centric design. It represents production-quality work suitable for real-world deployment and professional portfolios</a:t>
            </a:r>
            <a:endParaRPr lang="en-IN" dirty="0"/>
          </a:p>
        </p:txBody>
      </p:sp>
    </p:spTree>
    <p:extLst>
      <p:ext uri="{BB962C8B-B14F-4D97-AF65-F5344CB8AC3E}">
        <p14:creationId xmlns:p14="http://schemas.microsoft.com/office/powerpoint/2010/main" val="14561411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572</Words>
  <Application>Microsoft Office PowerPoint</Application>
  <PresentationFormat>Widescreen</PresentationFormat>
  <Paragraphs>70</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Voyage Analytics – End-to-End MLOps Project Report </vt:lpstr>
      <vt:lpstr>1. Introduction</vt:lpstr>
      <vt:lpstr>2. Business Problem</vt:lpstr>
      <vt:lpstr>3. Dataset Description</vt:lpstr>
      <vt:lpstr>4. Machine Learning Models</vt:lpstr>
      <vt:lpstr>5. System Architecture</vt:lpstr>
      <vt:lpstr>6. Technology Stack</vt:lpstr>
      <vt:lpstr>7. Deployment &amp; MLOps Practices</vt:lpstr>
      <vt:lpstr>8. Results &amp; Business Impact</vt:lpstr>
      <vt:lpstr>9. Challenges and Solutions</vt:lpstr>
      <vt:lpstr>10. Future Enhancements</vt:lpstr>
      <vt:lpstr>11.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Mustafiz Ahmed</dc:creator>
  <cp:lastModifiedBy>Mustafiz Ahmed</cp:lastModifiedBy>
  <cp:revision>1</cp:revision>
  <dcterms:created xsi:type="dcterms:W3CDTF">2026-01-21T17:27:18Z</dcterms:created>
  <dcterms:modified xsi:type="dcterms:W3CDTF">2026-01-21T17:38:04Z</dcterms:modified>
</cp:coreProperties>
</file>